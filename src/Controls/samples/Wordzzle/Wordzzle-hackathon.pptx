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s/slide2.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1"/>
          <p:cNvSpPr>
            <a:spLocks noGrp="1"/>
          </p:cNvSpPr>
          <p:nvPr>
            <p:ph type="body" idx="1"/>
          </p:nvPr>
        </p:nvSpPr>
        <p:spPr/>
        <p:txBody>
          <a:bodyPr/>
          <a:lstStyle/>
          <a:p>
            <a:r>
              <a:t>The SDK and workload were exactly pinned to the event. Android API30 uses CoreCLR. Direct MCP protocol calls verified tree/query/tap/fill/scroll/screenshot/get/set/assert, including intentional assertion failure. A memory-only label change reset on relaunch, separately from real dotnet-watch XAML source Hot Reload. Setup was not frictionless: public-only restore failed for exact event packages, an API36 emulator stayed offline, manually sideloaded fast-deploy APK missed assemblies, and DevFlow needed an explicit ADB forward. Existing authorized event credentials were used only locally. Editor background UI control failed, so do not count these direct tool tests as a MAUI chat-agent pass. See README for final full matrix. The event deck destination was TODO; these two slides are a local handoff, not an uploaded deck.</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2"/>
          <p:cNvSpPr/>
          <p:nvPr/>
        </p:nvSpPr>
        <p:spPr>
          <a:xfrm>
            <a:off x="0" y="0"/>
            <a:ext cx="9144000" cy="6858000"/>
          </a:xfrm>
          <a:prstGeom prst="rect">
            <a:avLst/>
          </a:prstGeom>
          <a:solidFill>
            <a:srgbClr val="F5F4EF"/>
          </a:solidFill>
        </p:spPr>
        <p:txBody>
          <a:bodyPr rtlCol="0" anchor="ctr"/>
          <a:lstStyle/>
          <a:p/>
        </p:txBody>
      </p:sp>
      <p:sp>
        <p:nvSpPr>
          <p:cNvPr id="3" name="TextBox 3"/>
          <p:cNvSpPr txBox="1"/>
          <p:nvPr/>
        </p:nvSpPr>
        <p:spPr>
          <a:xfrm>
            <a:off x="457200" y="457200"/>
            <a:ext cx="8229600" cy="731520"/>
          </a:xfrm>
          <a:prstGeom prst="rect">
            <a:avLst/>
          </a:prstGeom>
        </p:spPr>
        <p:txBody>
          <a:bodyPr wrap="square" rtlCol="0">
            <a:spAutoFit/>
          </a:bodyPr>
          <a:lstStyle/>
          <a:p>
            <a:r>
              <a:rPr b="1" sz="3200">
                <a:solidFill>
                  <a:srgbClr val="538D4E"/>
                </a:solidFill>
              </a:rPr>
              <a:t>WORDZZLE / MAUI 11 RC2</a:t>
            </a:r>
          </a:p>
        </p:txBody>
      </p:sp>
      <p:sp>
        <p:nvSpPr>
          <p:cNvPr id="4" name="TextBox 4"/>
          <p:cNvSpPr txBox="1"/>
          <p:nvPr/>
        </p:nvSpPr>
        <p:spPr>
          <a:xfrm>
            <a:off x="457200" y="1463040"/>
            <a:ext cx="8229600" cy="640080"/>
          </a:xfrm>
          <a:prstGeom prst="rect">
            <a:avLst/>
          </a:prstGeom>
        </p:spPr>
        <p:txBody>
          <a:bodyPr wrap="square" rtlCol="0">
            <a:spAutoFit/>
          </a:bodyPr>
          <a:lstStyle/>
          <a:p>
            <a:r>
              <a:rPr b="1" sz="2400">
                <a:solidFill>
                  <a:srgbClr val="30343B"/>
                </a:solidFill>
              </a:rPr>
              <a:t>From Xamarin.Forms to a running Android game</a:t>
            </a:r>
          </a:p>
        </p:txBody>
      </p:sp>
      <p:sp>
        <p:nvSpPr>
          <p:cNvPr id="5" name="TextBox 5"/>
          <p:cNvSpPr txBox="1"/>
          <p:nvPr/>
        </p:nvSpPr>
        <p:spPr>
          <a:xfrm>
            <a:off x="457200" y="2468880"/>
            <a:ext cx="8229600" cy="640080"/>
          </a:xfrm>
          <a:prstGeom prst="rect">
            <a:avLst/>
          </a:prstGeom>
        </p:spPr>
        <p:txBody>
          <a:bodyPr wrap="square" rtlCol="0">
            <a:spAutoFit/>
          </a:bodyPr>
          <a:lstStyle/>
          <a:p>
            <a:r>
              <a:rPr sz="2200">
                <a:solidFill>
                  <a:srgbClr val="30343B"/>
                </a:solidFill>
              </a:rPr>
              <a:t>Daily 4-7-letter English puzzles, duplicate-aware scoring</a:t>
            </a:r>
          </a:p>
        </p:txBody>
      </p:sp>
      <p:sp>
        <p:nvSpPr>
          <p:cNvPr id="6" name="TextBox 6"/>
          <p:cNvSpPr txBox="1"/>
          <p:nvPr/>
        </p:nvSpPr>
        <p:spPr>
          <a:xfrm>
            <a:off x="457200" y="3291840"/>
            <a:ext cx="8229600" cy="640080"/>
          </a:xfrm>
          <a:prstGeom prst="rect">
            <a:avLst/>
          </a:prstGeom>
        </p:spPr>
        <p:txBody>
          <a:bodyPr wrap="square" rtlCol="0">
            <a:spAutoFit/>
          </a:bodyPr>
          <a:lstStyle/>
          <a:p>
            <a:r>
              <a:rPr sz="2200">
                <a:solidFill>
                  <a:srgbClr val="30343B"/>
                </a:solidFill>
              </a:rPr>
              <a:t>Win, restart, restore progress, inspect local statistics</a:t>
            </a:r>
          </a:p>
        </p:txBody>
      </p:sp>
      <p:sp>
        <p:nvSpPr>
          <p:cNvPr id="7" name="TextBox 7"/>
          <p:cNvSpPr txBox="1"/>
          <p:nvPr/>
        </p:nvSpPr>
        <p:spPr>
          <a:xfrm>
            <a:off x="457200" y="4114800"/>
            <a:ext cx="8229600" cy="640080"/>
          </a:xfrm>
          <a:prstGeom prst="rect">
            <a:avLst/>
          </a:prstGeom>
        </p:spPr>
        <p:txBody>
          <a:bodyPr wrap="square" rtlCol="0">
            <a:spAutoFit/>
          </a:bodyPr>
          <a:lstStyle/>
          <a:p>
            <a:r>
              <a:rPr sz="2200">
                <a:solidFill>
                  <a:srgbClr val="30343B"/>
                </a:solidFill>
              </a:rPr>
              <a:t>C# XAML expressions + counter + validated name form</a:t>
            </a:r>
          </a:p>
        </p:txBody>
      </p:sp>
      <p:sp>
        <p:nvSpPr>
          <p:cNvPr id="8" name="TextBox 8"/>
          <p:cNvSpPr txBox="1"/>
          <p:nvPr/>
        </p:nvSpPr>
        <p:spPr>
          <a:xfrm>
            <a:off x="457200" y="5669280"/>
            <a:ext cx="8229600" cy="640080"/>
          </a:xfrm>
          <a:prstGeom prst="rect">
            <a:avLst/>
          </a:prstGeom>
        </p:spPr>
        <p:txBody>
          <a:bodyPr wrap="square" rtlCol="0">
            <a:spAutoFit/>
          </a:bodyPr>
          <a:lstStyle/>
          <a:p>
            <a:r>
              <a:rPr sz="1800">
                <a:solidFill>
                  <a:srgbClr val="538D4E"/>
                </a:solidFill>
              </a:rPr>
              <a:t>Real app screenshots and scenario evidence: README.md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hape 2"/>
          <p:cNvSpPr/>
          <p:nvPr/>
        </p:nvSpPr>
        <p:spPr>
          <a:xfrm>
            <a:off x="0" y="0"/>
            <a:ext cx="9144000" cy="6858000"/>
          </a:xfrm>
          <a:prstGeom prst="rect">
            <a:avLst/>
          </a:prstGeom>
          <a:solidFill>
            <a:srgbClr val="F5F4EF"/>
          </a:solidFill>
        </p:spPr>
        <p:txBody>
          <a:bodyPr rtlCol="0" anchor="ctr"/>
          <a:lstStyle/>
          <a:p/>
        </p:txBody>
      </p:sp>
      <p:sp>
        <p:nvSpPr>
          <p:cNvPr id="3" name="TextBox 3"/>
          <p:cNvSpPr txBox="1"/>
          <p:nvPr/>
        </p:nvSpPr>
        <p:spPr>
          <a:xfrm>
            <a:off x="457200" y="457200"/>
            <a:ext cx="8229600" cy="731520"/>
          </a:xfrm>
          <a:prstGeom prst="rect">
            <a:avLst/>
          </a:prstGeom>
        </p:spPr>
        <p:txBody>
          <a:bodyPr wrap="square" rtlCol="0">
            <a:spAutoFit/>
          </a:bodyPr>
          <a:lstStyle/>
          <a:p>
            <a:r>
              <a:rPr b="1" sz="3000">
                <a:solidFill>
                  <a:srgbClr val="538D4E"/>
                </a:solidFill>
              </a:rPr>
              <a:t>EVIDENCE, FRICTION, BLOCKERS</a:t>
            </a:r>
          </a:p>
        </p:txBody>
      </p:sp>
      <p:sp>
        <p:nvSpPr>
          <p:cNvPr id="4" name="TextBox 4"/>
          <p:cNvSpPr txBox="1"/>
          <p:nvPr/>
        </p:nvSpPr>
        <p:spPr>
          <a:xfrm>
            <a:off x="457200" y="1508760"/>
            <a:ext cx="8229600" cy="640080"/>
          </a:xfrm>
          <a:prstGeom prst="rect">
            <a:avLst/>
          </a:prstGeom>
        </p:spPr>
        <p:txBody>
          <a:bodyPr wrap="square" rtlCol="0">
            <a:spAutoFit/>
          </a:bodyPr>
          <a:lstStyle/>
          <a:p>
            <a:r>
              <a:rPr b="1" sz="2200">
                <a:solidFill>
                  <a:srgbClr val="30343B"/>
                </a:solidFill>
              </a:rPr>
              <a:t>Working: CoreCLR Android app and real DevFlow MCP</a:t>
            </a:r>
          </a:p>
        </p:txBody>
      </p:sp>
      <p:sp>
        <p:nvSpPr>
          <p:cNvPr id="5" name="TextBox 5"/>
          <p:cNvSpPr txBox="1"/>
          <p:nvPr/>
        </p:nvSpPr>
        <p:spPr>
          <a:xfrm>
            <a:off x="457200" y="2331720"/>
            <a:ext cx="8229600" cy="640080"/>
          </a:xfrm>
          <a:prstGeom prst="rect">
            <a:avLst/>
          </a:prstGeom>
        </p:spPr>
        <p:txBody>
          <a:bodyPr wrap="square" rtlCol="0">
            <a:spAutoFit/>
          </a:bodyPr>
          <a:lstStyle/>
          <a:p>
            <a:r>
              <a:rPr sz="2200">
                <a:solidFill>
                  <a:srgbClr val="30343B"/>
                </a:solidFill>
              </a:rPr>
              <a:t>XAML + C# Hot Reload preserve session and counter</a:t>
            </a:r>
          </a:p>
        </p:txBody>
      </p:sp>
      <p:sp>
        <p:nvSpPr>
          <p:cNvPr id="6" name="TextBox 6"/>
          <p:cNvSpPr txBox="1"/>
          <p:nvPr/>
        </p:nvSpPr>
        <p:spPr>
          <a:xfrm>
            <a:off x="457200" y="3154680"/>
            <a:ext cx="8229600" cy="640080"/>
          </a:xfrm>
          <a:prstGeom prst="rect">
            <a:avLst/>
          </a:prstGeom>
        </p:spPr>
        <p:txBody>
          <a:bodyPr wrap="square" rtlCol="0">
            <a:spAutoFit/>
          </a:bodyPr>
          <a:lstStyle/>
          <a:p>
            <a:r>
              <a:rPr sz="2200">
                <a:solidFill>
                  <a:srgbClr val="30343B"/>
                </a:solidFill>
              </a:rPr>
              <a:t>Setup: exact RC2 feeds; software-rendered emulator</a:t>
            </a:r>
          </a:p>
        </p:txBody>
      </p:sp>
      <p:sp>
        <p:nvSpPr>
          <p:cNvPr id="7" name="TextBox 7"/>
          <p:cNvSpPr txBox="1"/>
          <p:nvPr/>
        </p:nvSpPr>
        <p:spPr>
          <a:xfrm>
            <a:off x="457200" y="4114800"/>
            <a:ext cx="8229600" cy="640080"/>
          </a:xfrm>
          <a:prstGeom prst="rect">
            <a:avLst/>
          </a:prstGeom>
        </p:spPr>
        <p:txBody>
          <a:bodyPr wrap="square" rtlCol="0">
            <a:spAutoFit/>
          </a:bodyPr>
          <a:lstStyle/>
          <a:p>
            <a:r>
              <a:rPr sz="2200">
                <a:solidFill>
                  <a:srgbClr val="A34C28"/>
                </a:solidFill>
              </a:rPr>
              <a:t>Blocked: iOS workload requires Xcode 27; host has 26.6</a:t>
            </a:r>
          </a:p>
        </p:txBody>
      </p:sp>
      <p:sp>
        <p:nvSpPr>
          <p:cNvPr id="8" name="TextBox 8"/>
          <p:cNvSpPr txBox="1"/>
          <p:nvPr/>
        </p:nvSpPr>
        <p:spPr>
          <a:xfrm>
            <a:off x="457200" y="5074920"/>
            <a:ext cx="8229600" cy="640080"/>
          </a:xfrm>
          <a:prstGeom prst="rect">
            <a:avLst/>
          </a:prstGeom>
        </p:spPr>
        <p:txBody>
          <a:bodyPr wrap="square" rtlCol="0">
            <a:spAutoFit/>
          </a:bodyPr>
          <a:lstStyle/>
          <a:p>
            <a:r>
              <a:rPr sz="2200">
                <a:solidFill>
                  <a:srgbClr val="A34C28"/>
                </a:solidFill>
              </a:rPr>
              <a:t>VS Code F5 / agent chat not validated; no false Pass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